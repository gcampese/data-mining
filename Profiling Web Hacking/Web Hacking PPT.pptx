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20"/>
  </p:notesMasterIdLst>
  <p:sldIdLst>
    <p:sldId id="256" r:id="rId2"/>
    <p:sldId id="257" r:id="rId3"/>
    <p:sldId id="258" r:id="rId4"/>
    <p:sldId id="261" r:id="rId5"/>
    <p:sldId id="262" r:id="rId6"/>
    <p:sldId id="264" r:id="rId7"/>
    <p:sldId id="263" r:id="rId8"/>
    <p:sldId id="265" r:id="rId9"/>
    <p:sldId id="266" r:id="rId10"/>
    <p:sldId id="267" r:id="rId11"/>
    <p:sldId id="268" r:id="rId12"/>
    <p:sldId id="271" r:id="rId13"/>
    <p:sldId id="269" r:id="rId14"/>
    <p:sldId id="270" r:id="rId15"/>
    <p:sldId id="273" r:id="rId16"/>
    <p:sldId id="272" r:id="rId17"/>
    <p:sldId id="259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0" autoAdjust="0"/>
    <p:restoredTop sz="94595" autoAdjust="0"/>
  </p:normalViewPr>
  <p:slideViewPr>
    <p:cSldViewPr snapToGrid="0">
      <p:cViewPr varScale="1">
        <p:scale>
          <a:sx n="89" d="100"/>
          <a:sy n="89" d="100"/>
        </p:scale>
        <p:origin x="7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FD5034-4AF1-0B44-A0A8-9E82CA12BBA8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1D96C-557B-9048-B5B1-878BF8B94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27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86880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39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2227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4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66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99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846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3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9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59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7949A12-B6F1-4AE6-B550-AA91B8E01F35}" type="datetimeFigureOut">
              <a:rPr lang="en-US" smtClean="0"/>
              <a:t>11/26/18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BBCBD9A-01B8-46EB-BDB2-DDE2872F9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1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if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CCCF0-24C2-4BE7-85D0-6785084D1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Attacks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ACC63-CC96-498A-B629-238583875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4777380"/>
            <a:ext cx="8973783" cy="132166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Gaberial Campese</a:t>
            </a:r>
          </a:p>
          <a:p>
            <a:r>
              <a:rPr lang="en-US" dirty="0"/>
              <a:t>Individual Project 2</a:t>
            </a:r>
          </a:p>
          <a:p>
            <a:r>
              <a:rPr lang="en-US" dirty="0"/>
              <a:t>DATS 6103</a:t>
            </a:r>
          </a:p>
        </p:txBody>
      </p:sp>
    </p:spTree>
    <p:extLst>
      <p:ext uri="{BB962C8B-B14F-4D97-AF65-F5344CB8AC3E}">
        <p14:creationId xmlns:p14="http://schemas.microsoft.com/office/powerpoint/2010/main" val="2880778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500C-6CBA-488D-BAEC-F4C3D228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B27D8-7DBC-4834-8D49-9A9FF4535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00665"/>
            <a:ext cx="8979408" cy="4848329"/>
          </a:xfrm>
        </p:spPr>
        <p:txBody>
          <a:bodyPr/>
          <a:lstStyle/>
          <a:p>
            <a:r>
              <a:rPr lang="en-US" dirty="0"/>
              <a:t>Web-Hacking Dataset</a:t>
            </a:r>
          </a:p>
          <a:p>
            <a:r>
              <a:rPr lang="en-US" dirty="0"/>
              <a:t>Historical Overview of Web Attacks (1998-2015)</a:t>
            </a:r>
          </a:p>
          <a:p>
            <a:r>
              <a:rPr lang="en-US" dirty="0"/>
              <a:t>Countries of Occurrence Analysis</a:t>
            </a:r>
          </a:p>
          <a:p>
            <a:r>
              <a:rPr lang="en-US" dirty="0"/>
              <a:t>Top OS’ and Web Servers used Overall</a:t>
            </a:r>
          </a:p>
          <a:p>
            <a:r>
              <a:rPr lang="en-US" dirty="0"/>
              <a:t>Top Perpetrators based on number of attacks</a:t>
            </a:r>
          </a:p>
          <a:p>
            <a:r>
              <a:rPr lang="en-US" dirty="0"/>
              <a:t>Most used OS’ and Web Servers among Top Perpetrators</a:t>
            </a:r>
          </a:p>
          <a:p>
            <a:r>
              <a:rPr lang="en-US" dirty="0"/>
              <a:t>Most Targeted Countries among Top Perpetrators</a:t>
            </a:r>
          </a:p>
          <a:p>
            <a:r>
              <a:rPr lang="en-US" dirty="0"/>
              <a:t>OS, Web Servers, and Countries frequency by each individual group</a:t>
            </a:r>
          </a:p>
          <a:p>
            <a:r>
              <a:rPr lang="en-US" dirty="0"/>
              <a:t>Code Review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5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E74E-2E9F-4B0E-B25A-3E6DB240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63545-B0BE-4369-96D8-93E508B89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Web-Hacking Excel Datasheet from Hacking and Countermeasure Research Lab</a:t>
            </a:r>
          </a:p>
          <a:p>
            <a:r>
              <a:rPr lang="en-US" dirty="0"/>
              <a:t>212,093 rows and 9 columns</a:t>
            </a:r>
          </a:p>
          <a:p>
            <a:r>
              <a:rPr lang="en-US" dirty="0"/>
              <a:t>Years: 1998-2015</a:t>
            </a:r>
          </a:p>
          <a:p>
            <a:r>
              <a:rPr lang="en-US" dirty="0"/>
              <a:t>Rows represent instances of attacks</a:t>
            </a:r>
          </a:p>
          <a:p>
            <a:r>
              <a:rPr lang="en-US" dirty="0"/>
              <a:t>Columns: </a:t>
            </a:r>
            <a:r>
              <a:rPr lang="en-US" b="1" dirty="0"/>
              <a:t>Date</a:t>
            </a:r>
            <a:r>
              <a:rPr lang="en-US" dirty="0"/>
              <a:t>, </a:t>
            </a:r>
            <a:r>
              <a:rPr lang="en-US" b="1" dirty="0"/>
              <a:t>Notify</a:t>
            </a:r>
            <a:r>
              <a:rPr lang="en-US" dirty="0"/>
              <a:t>, URL, IP, </a:t>
            </a:r>
            <a:r>
              <a:rPr lang="en-US" b="1" dirty="0"/>
              <a:t>Country</a:t>
            </a:r>
            <a:r>
              <a:rPr lang="en-US" dirty="0"/>
              <a:t>, </a:t>
            </a:r>
            <a:r>
              <a:rPr lang="en-US" b="1" dirty="0"/>
              <a:t>OS</a:t>
            </a:r>
            <a:r>
              <a:rPr lang="en-US" dirty="0"/>
              <a:t>, </a:t>
            </a:r>
            <a:r>
              <a:rPr lang="en-US" b="1" dirty="0" err="1"/>
              <a:t>WebServer</a:t>
            </a:r>
            <a:r>
              <a:rPr lang="en-US" dirty="0"/>
              <a:t>, Encoding, Lang</a:t>
            </a:r>
          </a:p>
          <a:p>
            <a:r>
              <a:rPr lang="en-US" dirty="0"/>
              <a:t>Used Python to conduct Data Mining &amp; Visualization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57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37B3-A3D5-4CD3-9D8C-E89747D58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47059"/>
            <a:ext cx="9692640" cy="1325562"/>
          </a:xfrm>
        </p:spPr>
        <p:txBody>
          <a:bodyPr/>
          <a:lstStyle/>
          <a:p>
            <a:r>
              <a:rPr lang="en-US" dirty="0"/>
              <a:t>Historical Overview of Web Hacking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EBECE-09C5-4600-A226-8A2C12C14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1" y="884421"/>
            <a:ext cx="8224502" cy="5857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B8B28-EC22-4D9B-A1DB-B3CFDE272292}"/>
              </a:ext>
            </a:extLst>
          </p:cNvPr>
          <p:cNvSpPr txBox="1"/>
          <p:nvPr/>
        </p:nvSpPr>
        <p:spPr>
          <a:xfrm>
            <a:off x="8342143" y="1763241"/>
            <a:ext cx="27854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number of web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Summed for each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Peak in 2009 followed by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ends in Sept.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8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0895-2B0E-4894-835C-A4F2D6A8E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2640" cy="1325562"/>
          </a:xfrm>
        </p:spPr>
        <p:txBody>
          <a:bodyPr/>
          <a:lstStyle/>
          <a:p>
            <a:r>
              <a:rPr lang="en-US" dirty="0"/>
              <a:t>Top Months of Occurrence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9A226-BAD2-42E5-9957-7D53FCFB6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23" y="1636585"/>
            <a:ext cx="7774171" cy="52214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AF5DB6-FFC8-419D-A419-85C713C1E2F3}"/>
              </a:ext>
            </a:extLst>
          </p:cNvPr>
          <p:cNvSpPr txBox="1"/>
          <p:nvPr/>
        </p:nvSpPr>
        <p:spPr>
          <a:xfrm>
            <a:off x="8102990" y="1951892"/>
            <a:ext cx="31511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number of web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Summed by each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October by significant margin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December follows</a:t>
            </a:r>
          </a:p>
        </p:txBody>
      </p:sp>
    </p:spTree>
    <p:extLst>
      <p:ext uri="{BB962C8B-B14F-4D97-AF65-F5344CB8AC3E}">
        <p14:creationId xmlns:p14="http://schemas.microsoft.com/office/powerpoint/2010/main" val="321849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8AE57-550F-4BD5-B36F-9145948CE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63671"/>
            <a:ext cx="9692640" cy="1325562"/>
          </a:xfrm>
        </p:spPr>
        <p:txBody>
          <a:bodyPr/>
          <a:lstStyle/>
          <a:p>
            <a:r>
              <a:rPr lang="en-US" dirty="0"/>
              <a:t>Top 12 Countries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4E6987-AE05-4FA5-9A14-C65A04F52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5" y="563671"/>
            <a:ext cx="8367386" cy="6294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1036FF-1217-40AA-9D4D-21462FD8F8E6}"/>
              </a:ext>
            </a:extLst>
          </p:cNvPr>
          <p:cNvSpPr txBox="1"/>
          <p:nvPr/>
        </p:nvSpPr>
        <p:spPr>
          <a:xfrm>
            <a:off x="8642959" y="1089764"/>
            <a:ext cx="21920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12 countries of occurrence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United States accounts for 55.25% of top 12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Germany follows at 6.4%</a:t>
            </a:r>
          </a:p>
        </p:txBody>
      </p:sp>
    </p:spTree>
    <p:extLst>
      <p:ext uri="{BB962C8B-B14F-4D97-AF65-F5344CB8AC3E}">
        <p14:creationId xmlns:p14="http://schemas.microsoft.com/office/powerpoint/2010/main" val="323095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082BA8-C80C-4FAD-9043-A9B469E68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" y="0"/>
            <a:ext cx="8703952" cy="71831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0CB70A-1F33-4A2F-ACC4-696BA375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62708"/>
            <a:ext cx="11033291" cy="1325562"/>
          </a:xfrm>
        </p:spPr>
        <p:txBody>
          <a:bodyPr/>
          <a:lstStyle/>
          <a:p>
            <a:r>
              <a:rPr lang="en-US" dirty="0"/>
              <a:t>Top 12 Countries (w/ Unknowns)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E834A-CC15-4EED-9DF3-879E89971619}"/>
              </a:ext>
            </a:extLst>
          </p:cNvPr>
          <p:cNvSpPr txBox="1"/>
          <p:nvPr/>
        </p:nvSpPr>
        <p:spPr>
          <a:xfrm>
            <a:off x="8818323" y="1352811"/>
            <a:ext cx="22149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United States still accounts for 34.57%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Unknowns at 38.85%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Indonesia drops</a:t>
            </a:r>
          </a:p>
        </p:txBody>
      </p:sp>
    </p:spTree>
    <p:extLst>
      <p:ext uri="{BB962C8B-B14F-4D97-AF65-F5344CB8AC3E}">
        <p14:creationId xmlns:p14="http://schemas.microsoft.com/office/powerpoint/2010/main" val="321016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AC22C-CF28-4DAB-A81C-73ADB826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48640"/>
            <a:ext cx="11085534" cy="1325562"/>
          </a:xfrm>
        </p:spPr>
        <p:txBody>
          <a:bodyPr/>
          <a:lstStyle/>
          <a:p>
            <a:r>
              <a:rPr lang="en-US" dirty="0"/>
              <a:t>Top 10 Operating Systems Overall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A7576-F843-4542-B272-95CF76599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456"/>
            <a:ext cx="8460127" cy="5436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AA3AC5-9BCC-4A93-8942-E25D7E8FF712}"/>
              </a:ext>
            </a:extLst>
          </p:cNvPr>
          <p:cNvSpPr txBox="1"/>
          <p:nvPr/>
        </p:nvSpPr>
        <p:spPr>
          <a:xfrm>
            <a:off x="8768219" y="1427967"/>
            <a:ext cx="2317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Linux OS of choice by far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~61.2% Linux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Windows OS versions</a:t>
            </a:r>
          </a:p>
        </p:txBody>
      </p:sp>
    </p:spTree>
    <p:extLst>
      <p:ext uri="{BB962C8B-B14F-4D97-AF65-F5344CB8AC3E}">
        <p14:creationId xmlns:p14="http://schemas.microsoft.com/office/powerpoint/2010/main" val="606644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E4C96-9982-4689-B54E-2C2095B24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63463"/>
            <a:ext cx="9692640" cy="1325562"/>
          </a:xfrm>
        </p:spPr>
        <p:txBody>
          <a:bodyPr/>
          <a:lstStyle/>
          <a:p>
            <a:r>
              <a:rPr lang="en-US" dirty="0"/>
              <a:t>Top 10 Web Servers Used Overall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37E37-1766-499C-B995-E0B3BA936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60" y="1112620"/>
            <a:ext cx="8534665" cy="5451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10E4FA-AF48-4CB0-B75E-E04D66D4740E}"/>
              </a:ext>
            </a:extLst>
          </p:cNvPr>
          <p:cNvSpPr txBox="1"/>
          <p:nvPr/>
        </p:nvSpPr>
        <p:spPr>
          <a:xfrm>
            <a:off x="8659925" y="1377863"/>
            <a:ext cx="2237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Apache most popular Web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Apache used ~53.9% of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Pay detail to IIS and Unknowns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 not close</a:t>
            </a:r>
          </a:p>
        </p:txBody>
      </p:sp>
    </p:spTree>
    <p:extLst>
      <p:ext uri="{BB962C8B-B14F-4D97-AF65-F5344CB8AC3E}">
        <p14:creationId xmlns:p14="http://schemas.microsoft.com/office/powerpoint/2010/main" val="1418913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9E6F-1D93-40E4-9959-C8C9255D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48432"/>
            <a:ext cx="9692640" cy="1325562"/>
          </a:xfrm>
        </p:spPr>
        <p:txBody>
          <a:bodyPr/>
          <a:lstStyle/>
          <a:p>
            <a:r>
              <a:rPr lang="en-US" dirty="0"/>
              <a:t>Key Perpetrators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D929E-BED1-4077-844E-88E12713D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1935"/>
            <a:ext cx="8451669" cy="57101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798ADC-844D-4E93-BE51-24B669C17168}"/>
              </a:ext>
            </a:extLst>
          </p:cNvPr>
          <p:cNvSpPr txBox="1"/>
          <p:nvPr/>
        </p:nvSpPr>
        <p:spPr>
          <a:xfrm>
            <a:off x="8478437" y="1128231"/>
            <a:ext cx="24284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w4l3XzY3 most active group with 8,928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w4l3XzY3 ~4.2%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Top 5 accounts for ~11.1% of total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99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7262-1B1B-40CB-ADB6-0A86BBA8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96697" cy="1325562"/>
          </a:xfrm>
        </p:spPr>
        <p:txBody>
          <a:bodyPr/>
          <a:lstStyle/>
          <a:p>
            <a:r>
              <a:rPr lang="en-US" dirty="0"/>
              <a:t>Top Operating Systems Among Top Perpetrators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912476-8AC8-451F-A835-4DB61C54C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2"/>
            <a:ext cx="8218772" cy="54018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47CD94-78C0-4538-BABF-EA4408957B71}"/>
              </a:ext>
            </a:extLst>
          </p:cNvPr>
          <p:cNvSpPr txBox="1"/>
          <p:nvPr/>
        </p:nvSpPr>
        <p:spPr>
          <a:xfrm>
            <a:off x="8364511" y="1648727"/>
            <a:ext cx="2578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Compare Linux usage with Overall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~79.5% Top 5 attacks using Linux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23,156/23,483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Notice Windows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18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7262-1B1B-40CB-ADB6-0A86BBA84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496697" cy="1325562"/>
          </a:xfrm>
        </p:spPr>
        <p:txBody>
          <a:bodyPr/>
          <a:lstStyle/>
          <a:p>
            <a:r>
              <a:rPr lang="en-US" dirty="0"/>
              <a:t>Top Web Servers Among Top Perpetrators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D3795-8205-49B1-B1DF-156F32025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5562"/>
            <a:ext cx="8206070" cy="53626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51B269-3F0E-4B29-B719-07E1B0DB427C}"/>
              </a:ext>
            </a:extLst>
          </p:cNvPr>
          <p:cNvSpPr txBox="1"/>
          <p:nvPr/>
        </p:nvSpPr>
        <p:spPr>
          <a:xfrm>
            <a:off x="8499423" y="1798820"/>
            <a:ext cx="21136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Apache is Web Server of choice among Top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~80.3% Apache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Internet Information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41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689B-AA4C-4AAB-BBD9-96BA8E0BB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692640" cy="1325562"/>
          </a:xfrm>
        </p:spPr>
        <p:txBody>
          <a:bodyPr/>
          <a:lstStyle/>
          <a:p>
            <a:r>
              <a:rPr lang="en-US" dirty="0"/>
              <a:t>Countries of Occurrence Among Top Perpetrators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BC0CD3-0F48-4E8B-9297-27BC0204F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00" y="613954"/>
            <a:ext cx="8198807" cy="64530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131BE7-33BD-4BDD-BBBC-87016617CBBB}"/>
              </a:ext>
            </a:extLst>
          </p:cNvPr>
          <p:cNvSpPr txBox="1"/>
          <p:nvPr/>
        </p:nvSpPr>
        <p:spPr>
          <a:xfrm>
            <a:off x="8595360" y="1325562"/>
            <a:ext cx="2403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USA at 29.86%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Unknowns at 23.14%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Spain at 21.13%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Recall Overall distribution</a:t>
            </a:r>
          </a:p>
        </p:txBody>
      </p:sp>
    </p:spTree>
    <p:extLst>
      <p:ext uri="{BB962C8B-B14F-4D97-AF65-F5344CB8AC3E}">
        <p14:creationId xmlns:p14="http://schemas.microsoft.com/office/powerpoint/2010/main" val="3523640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0F23-53B2-413E-AE56-73D0AA39B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3" y="209954"/>
            <a:ext cx="9692640" cy="1325562"/>
          </a:xfrm>
        </p:spPr>
        <p:txBody>
          <a:bodyPr/>
          <a:lstStyle/>
          <a:p>
            <a:r>
              <a:rPr lang="en-US" dirty="0"/>
              <a:t>Individual Scoping of Top Perpetrators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CD296-0572-4425-8995-AA27402B9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23" y="1828800"/>
            <a:ext cx="9587409" cy="4351337"/>
          </a:xfrm>
        </p:spPr>
        <p:txBody>
          <a:bodyPr>
            <a:normAutofit/>
          </a:bodyPr>
          <a:lstStyle/>
          <a:p>
            <a:r>
              <a:rPr lang="en-US" sz="2400" dirty="0"/>
              <a:t>Developed 3 functions in Python</a:t>
            </a:r>
          </a:p>
          <a:p>
            <a:pPr lvl="1"/>
            <a:r>
              <a:rPr lang="en-US" sz="2000" dirty="0"/>
              <a:t>OS Function</a:t>
            </a:r>
          </a:p>
          <a:p>
            <a:pPr lvl="1"/>
            <a:r>
              <a:rPr lang="en-US" sz="2000" dirty="0"/>
              <a:t>Web Server Function</a:t>
            </a:r>
          </a:p>
          <a:p>
            <a:pPr lvl="1"/>
            <a:r>
              <a:rPr lang="en-US" sz="2000" dirty="0"/>
              <a:t>Countries of Occurrence</a:t>
            </a:r>
          </a:p>
          <a:p>
            <a:r>
              <a:rPr lang="en-US" sz="2400" dirty="0"/>
              <a:t>Can be used for any Attacker</a:t>
            </a:r>
          </a:p>
          <a:p>
            <a:r>
              <a:rPr lang="en-US" sz="2400" dirty="0"/>
              <a:t>Profile Example</a:t>
            </a:r>
          </a:p>
        </p:txBody>
      </p:sp>
    </p:spTree>
    <p:extLst>
      <p:ext uri="{BB962C8B-B14F-4D97-AF65-F5344CB8AC3E}">
        <p14:creationId xmlns:p14="http://schemas.microsoft.com/office/powerpoint/2010/main" val="4262145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34EF6-B1C2-4F12-A83A-23539A5B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22514"/>
            <a:ext cx="9692640" cy="1325562"/>
          </a:xfrm>
        </p:spPr>
        <p:txBody>
          <a:bodyPr/>
          <a:lstStyle/>
          <a:p>
            <a:r>
              <a:rPr lang="en-US" dirty="0"/>
              <a:t>“BD GREY HAT HACKERS” Profile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384ACC-3362-0646-9714-21E512BD4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5"/>
            <a:ext cx="3929819" cy="2914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F07474-D8BD-B644-80B7-8D860BBE2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825" y="1971675"/>
            <a:ext cx="3481313" cy="2914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542476-74D6-BD4E-A76A-F932399D89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819" y="1971675"/>
            <a:ext cx="3814006" cy="29146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D544D0-4137-9B41-BC1E-3FC63D1E0849}"/>
              </a:ext>
            </a:extLst>
          </p:cNvPr>
          <p:cNvSpPr txBox="1"/>
          <p:nvPr/>
        </p:nvSpPr>
        <p:spPr>
          <a:xfrm>
            <a:off x="471488" y="5472113"/>
            <a:ext cx="431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Caution: Every group is different</a:t>
            </a:r>
          </a:p>
        </p:txBody>
      </p:sp>
    </p:spTree>
    <p:extLst>
      <p:ext uri="{BB962C8B-B14F-4D97-AF65-F5344CB8AC3E}">
        <p14:creationId xmlns:p14="http://schemas.microsoft.com/office/powerpoint/2010/main" val="1308937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42DF-E886-4D8C-8577-D3B52C17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15082"/>
            <a:ext cx="9692640" cy="1325562"/>
          </a:xfrm>
        </p:spPr>
        <p:txBody>
          <a:bodyPr/>
          <a:lstStyle/>
          <a:p>
            <a:r>
              <a:rPr lang="en-US" dirty="0"/>
              <a:t>Code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BCC5C-7179-48A2-810C-9531174EF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" y="1663908"/>
            <a:ext cx="8595360" cy="4351337"/>
          </a:xfrm>
        </p:spPr>
        <p:txBody>
          <a:bodyPr>
            <a:normAutofit/>
          </a:bodyPr>
          <a:lstStyle/>
          <a:p>
            <a:r>
              <a:rPr lang="en-US" sz="2400" dirty="0"/>
              <a:t>Navigate to </a:t>
            </a:r>
            <a:r>
              <a:rPr lang="en-US" sz="2400" dirty="0" err="1"/>
              <a:t>Jupyter</a:t>
            </a:r>
            <a:r>
              <a:rPr lang="en-US" sz="2400" dirty="0"/>
              <a:t> Notebook</a:t>
            </a:r>
          </a:p>
          <a:p>
            <a:r>
              <a:rPr lang="en-US" sz="2400" dirty="0"/>
              <a:t>Brief Code Review</a:t>
            </a:r>
          </a:p>
          <a:p>
            <a:r>
              <a:rPr lang="en-US" sz="2400" dirty="0"/>
              <a:t>Python libraries used to analyze data</a:t>
            </a:r>
          </a:p>
          <a:p>
            <a:r>
              <a:rPr lang="en-US" sz="2400" dirty="0"/>
              <a:t>Visualization </a:t>
            </a:r>
          </a:p>
        </p:txBody>
      </p:sp>
    </p:spTree>
    <p:extLst>
      <p:ext uri="{BB962C8B-B14F-4D97-AF65-F5344CB8AC3E}">
        <p14:creationId xmlns:p14="http://schemas.microsoft.com/office/powerpoint/2010/main" val="516496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20488-BAE9-4AE4-BC89-4F1E25FC8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Findings/Analysis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3F110-12FF-48FD-AED7-BD79DC993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691321"/>
            <a:ext cx="8595360" cy="4964311"/>
          </a:xfrm>
        </p:spPr>
        <p:txBody>
          <a:bodyPr>
            <a:normAutofit/>
          </a:bodyPr>
          <a:lstStyle/>
          <a:p>
            <a:r>
              <a:rPr lang="en-US" dirty="0"/>
              <a:t>Over</a:t>
            </a:r>
            <a:r>
              <a:rPr lang="en-US" b="1" dirty="0"/>
              <a:t> 30.5% </a:t>
            </a:r>
            <a:r>
              <a:rPr lang="en-US" dirty="0"/>
              <a:t>of web-hacking instances occurred in 2009, nearly </a:t>
            </a:r>
            <a:r>
              <a:rPr lang="en-US" b="1" dirty="0"/>
              <a:t>30% </a:t>
            </a:r>
            <a:r>
              <a:rPr lang="en-US" dirty="0"/>
              <a:t>in 2013</a:t>
            </a:r>
          </a:p>
          <a:p>
            <a:r>
              <a:rPr lang="en-US" dirty="0"/>
              <a:t>Over </a:t>
            </a:r>
            <a:r>
              <a:rPr lang="en-US" b="1" dirty="0"/>
              <a:t>55%</a:t>
            </a:r>
            <a:r>
              <a:rPr lang="en-US" dirty="0"/>
              <a:t> of attacks occurred in United States among known countries (over </a:t>
            </a:r>
            <a:r>
              <a:rPr lang="en-US" b="1" dirty="0"/>
              <a:t>34% </a:t>
            </a:r>
            <a:r>
              <a:rPr lang="en-US" dirty="0"/>
              <a:t>w/ unknowns) and nearly </a:t>
            </a:r>
            <a:r>
              <a:rPr lang="en-US" b="1" dirty="0"/>
              <a:t>30% </a:t>
            </a:r>
            <a:r>
              <a:rPr lang="en-US" dirty="0"/>
              <a:t>among Top 5</a:t>
            </a:r>
          </a:p>
          <a:p>
            <a:r>
              <a:rPr lang="en-US" dirty="0"/>
              <a:t>Pattern with overwhelming Linux usage both overall (</a:t>
            </a:r>
            <a:r>
              <a:rPr lang="en-US" b="1" dirty="0"/>
              <a:t>61.2%</a:t>
            </a:r>
            <a:r>
              <a:rPr lang="en-US" dirty="0"/>
              <a:t>) and within Top 5 (</a:t>
            </a:r>
            <a:r>
              <a:rPr lang="en-US" b="1" dirty="0"/>
              <a:t>79.5%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Apache is most used Web Server by large margin in web-hacking at </a:t>
            </a:r>
            <a:r>
              <a:rPr lang="en-US" b="1" dirty="0"/>
              <a:t>53.9%</a:t>
            </a:r>
            <a:r>
              <a:rPr lang="en-US" dirty="0"/>
              <a:t> overall, </a:t>
            </a:r>
            <a:r>
              <a:rPr lang="en-US" b="1" dirty="0"/>
              <a:t>80.3%</a:t>
            </a:r>
            <a:r>
              <a:rPr lang="en-US" dirty="0"/>
              <a:t> among biggest perpetrators</a:t>
            </a:r>
          </a:p>
          <a:p>
            <a:r>
              <a:rPr lang="en-US" dirty="0"/>
              <a:t>w4l3XzY3: Spain, </a:t>
            </a:r>
            <a:r>
              <a:rPr lang="en-US" b="1" dirty="0"/>
              <a:t>Linux</a:t>
            </a:r>
            <a:r>
              <a:rPr lang="en-US" dirty="0"/>
              <a:t>, </a:t>
            </a:r>
            <a:r>
              <a:rPr lang="en-US" b="1" dirty="0"/>
              <a:t>Apache</a:t>
            </a:r>
          </a:p>
          <a:p>
            <a:r>
              <a:rPr lang="en-US" dirty="0" err="1"/>
              <a:t>iskorpitx</a:t>
            </a:r>
            <a:r>
              <a:rPr lang="en-US" dirty="0"/>
              <a:t>: </a:t>
            </a:r>
            <a:r>
              <a:rPr lang="en-US" b="1" dirty="0"/>
              <a:t>Unknown, Linux</a:t>
            </a:r>
            <a:r>
              <a:rPr lang="en-US" dirty="0"/>
              <a:t>, </a:t>
            </a:r>
            <a:r>
              <a:rPr lang="en-US" b="1" dirty="0"/>
              <a:t>Apache</a:t>
            </a:r>
            <a:endParaRPr lang="en-US" dirty="0"/>
          </a:p>
          <a:p>
            <a:r>
              <a:rPr lang="en-US" dirty="0"/>
              <a:t>BD GREY HAT HACKERS: </a:t>
            </a:r>
            <a:r>
              <a:rPr lang="en-US" b="1" dirty="0"/>
              <a:t>United States</a:t>
            </a:r>
            <a:r>
              <a:rPr lang="en-US" dirty="0"/>
              <a:t>,</a:t>
            </a:r>
            <a:r>
              <a:rPr lang="en-US" b="1" dirty="0"/>
              <a:t> Linux</a:t>
            </a:r>
            <a:r>
              <a:rPr lang="en-US" dirty="0"/>
              <a:t>,</a:t>
            </a:r>
            <a:r>
              <a:rPr lang="en-US" b="1" dirty="0"/>
              <a:t> Apache</a:t>
            </a:r>
          </a:p>
          <a:p>
            <a:r>
              <a:rPr lang="en-US" dirty="0"/>
              <a:t>delirium: </a:t>
            </a:r>
            <a:r>
              <a:rPr lang="en-US" b="1" dirty="0"/>
              <a:t>United States</a:t>
            </a:r>
            <a:r>
              <a:rPr lang="en-US" dirty="0"/>
              <a:t>, Unknown (Linux), Unknown (Apache)</a:t>
            </a:r>
          </a:p>
          <a:p>
            <a:r>
              <a:rPr lang="en-US" dirty="0"/>
              <a:t>Red Eye: Unknown (USA), Linux, Unknown (Apache)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465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9CED-0D65-4F49-8FF3-8F732D4B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Conclusion/Predictions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B868D-C745-4116-B39B-C1382F49D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5291528"/>
          </a:xfrm>
        </p:spPr>
        <p:txBody>
          <a:bodyPr>
            <a:normAutofit/>
          </a:bodyPr>
          <a:lstStyle/>
          <a:p>
            <a:r>
              <a:rPr lang="en-US" dirty="0"/>
              <a:t>United States is prime country of web-hacking occurrences</a:t>
            </a:r>
          </a:p>
          <a:p>
            <a:r>
              <a:rPr lang="en-US" dirty="0"/>
              <a:t>Data breach reporting</a:t>
            </a:r>
          </a:p>
          <a:p>
            <a:r>
              <a:rPr lang="en-US" dirty="0"/>
              <a:t>High usage of Linux OS &amp; Apache Web Server</a:t>
            </a:r>
          </a:p>
          <a:p>
            <a:r>
              <a:rPr lang="en-US" dirty="0"/>
              <a:t>Overall vs. Top 5 Pattern Comparisons</a:t>
            </a:r>
          </a:p>
          <a:p>
            <a:r>
              <a:rPr lang="en-US" dirty="0"/>
              <a:t>Significance of cyber criminal profiling</a:t>
            </a:r>
          </a:p>
          <a:p>
            <a:r>
              <a:rPr lang="en-US" dirty="0"/>
              <a:t>Difficulties in recognizing patterns among perpetrators</a:t>
            </a:r>
          </a:p>
          <a:p>
            <a:pPr lvl="1"/>
            <a:r>
              <a:rPr lang="en-US" dirty="0"/>
              <a:t>Good to see patterns, yet hard to narrow down</a:t>
            </a:r>
          </a:p>
          <a:p>
            <a:r>
              <a:rPr lang="en-US" dirty="0"/>
              <a:t>Identifying who, when, where, and how web-hacking occurs</a:t>
            </a:r>
          </a:p>
          <a:p>
            <a:r>
              <a:rPr lang="en-US" dirty="0"/>
              <a:t>Volatile, but ever so prominent</a:t>
            </a:r>
          </a:p>
          <a:p>
            <a:r>
              <a:rPr lang="en-US" dirty="0"/>
              <a:t>The Future</a:t>
            </a:r>
          </a:p>
          <a:p>
            <a:r>
              <a:rPr lang="en-US" dirty="0"/>
              <a:t>My learning processes (in-class and experience)</a:t>
            </a:r>
          </a:p>
        </p:txBody>
      </p:sp>
    </p:spTree>
    <p:extLst>
      <p:ext uri="{BB962C8B-B14F-4D97-AF65-F5344CB8AC3E}">
        <p14:creationId xmlns:p14="http://schemas.microsoft.com/office/powerpoint/2010/main" val="298538255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654</TotalTime>
  <Words>612</Words>
  <Application>Microsoft Macintosh PowerPoint</Application>
  <PresentationFormat>Widescreen</PresentationFormat>
  <Paragraphs>105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Schoolbook</vt:lpstr>
      <vt:lpstr>Wingdings 2</vt:lpstr>
      <vt:lpstr>View</vt:lpstr>
      <vt:lpstr>Web Attacks Data</vt:lpstr>
      <vt:lpstr>Introduction</vt:lpstr>
      <vt:lpstr>The Data</vt:lpstr>
      <vt:lpstr>Historical Overview of Web Hacking</vt:lpstr>
      <vt:lpstr>Top Months of Occurrence</vt:lpstr>
      <vt:lpstr>Top 12 Countries</vt:lpstr>
      <vt:lpstr>Top 12 Countries (w/ Unknowns)</vt:lpstr>
      <vt:lpstr>Top 10 Operating Systems Overall</vt:lpstr>
      <vt:lpstr>Top 10 Web Servers Used Overall</vt:lpstr>
      <vt:lpstr>Key Perpetrators</vt:lpstr>
      <vt:lpstr>Top Operating Systems Among Top Perpetrators</vt:lpstr>
      <vt:lpstr>Top Web Servers Among Top Perpetrators</vt:lpstr>
      <vt:lpstr>Countries of Occurrence Among Top Perpetrators</vt:lpstr>
      <vt:lpstr>Individual Scoping of Top Perpetrators</vt:lpstr>
      <vt:lpstr>“BD GREY HAT HACKERS” Profile</vt:lpstr>
      <vt:lpstr>Code Review</vt:lpstr>
      <vt:lpstr>Key Findings/Analysis</vt:lpstr>
      <vt:lpstr>Conclusion/Predictions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Microsoft Office User</cp:lastModifiedBy>
  <cp:revision>146</cp:revision>
  <dcterms:created xsi:type="dcterms:W3CDTF">2018-11-25T23:57:01Z</dcterms:created>
  <dcterms:modified xsi:type="dcterms:W3CDTF">2018-11-26T19:44:25Z</dcterms:modified>
</cp:coreProperties>
</file>